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29" r:id="rId1"/>
  </p:sldMasterIdLst>
  <p:sldIdLst>
    <p:sldId id="268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6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97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05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04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6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2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7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452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11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84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1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94703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  <p:sldLayoutId id="2147484133" r:id="rId4"/>
    <p:sldLayoutId id="2147484134" r:id="rId5"/>
    <p:sldLayoutId id="2147484135" r:id="rId6"/>
    <p:sldLayoutId id="2147484136" r:id="rId7"/>
    <p:sldLayoutId id="2147484137" r:id="rId8"/>
    <p:sldLayoutId id="2147484138" r:id="rId9"/>
    <p:sldLayoutId id="2147484139" r:id="rId10"/>
    <p:sldLayoutId id="2147484140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E77E1-6B70-57A5-CEED-919AABDB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agnifying glass showing decling performance">
            <a:extLst>
              <a:ext uri="{FF2B5EF4-FFF2-40B4-BE49-F238E27FC236}">
                <a16:creationId xmlns:a16="http://schemas.microsoft.com/office/drawing/2014/main" id="{8589D1DA-3307-17DF-8354-BD1CCF61D7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20" b="1451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2AF1D0-B49B-B2AA-1C55-246E01AB919F}"/>
              </a:ext>
            </a:extLst>
          </p:cNvPr>
          <p:cNvSpPr txBox="1"/>
          <p:nvPr/>
        </p:nvSpPr>
        <p:spPr>
          <a:xfrm>
            <a:off x="2190511" y="999828"/>
            <a:ext cx="7810976" cy="192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lang="en-US" sz="4350" b="1" i="0" u="none" dirty="0">
                <a:solidFill>
                  <a:srgbClr val="0F172A"/>
                </a:solidFill>
                <a:latin typeface="Poppins"/>
              </a:rPr>
              <a:t>Superstore Performance </a:t>
            </a:r>
          </a:p>
          <a:p>
            <a:pPr algn="ctr">
              <a:lnSpc>
                <a:spcPts val="5002"/>
              </a:lnSpc>
            </a:pPr>
            <a:r>
              <a:rPr lang="en-US" sz="4350" b="1" i="0" u="none" dirty="0">
                <a:solidFill>
                  <a:srgbClr val="0F172A"/>
                </a:solidFill>
                <a:latin typeface="Poppins"/>
              </a:rPr>
              <a:t>&amp;</a:t>
            </a:r>
            <a:r>
              <a:rPr lang="en-US" dirty="0"/>
              <a:t>
</a:t>
            </a:r>
            <a:r>
              <a:rPr lang="en-US" sz="4350" b="1" i="0" u="none" dirty="0">
                <a:solidFill>
                  <a:srgbClr val="0F172A"/>
                </a:solidFill>
                <a:latin typeface="Poppins"/>
              </a:rPr>
              <a:t> Forecasting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DAFA4-5772-6759-5CDA-5355BCB80B5C}"/>
              </a:ext>
            </a:extLst>
          </p:cNvPr>
          <p:cNvSpPr txBox="1"/>
          <p:nvPr/>
        </p:nvSpPr>
        <p:spPr>
          <a:xfrm>
            <a:off x="2047874" y="4319216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500" i="0" u="none" dirty="0">
                <a:solidFill>
                  <a:srgbClr val="475569"/>
                </a:solidFill>
                <a:latin typeface="Lato"/>
              </a:rPr>
              <a:t>An in-depth evaluation of total revenue, profit margins, segment distribution, seasonal trends, and predictive forecasting.</a:t>
            </a:r>
          </a:p>
        </p:txBody>
      </p:sp>
    </p:spTree>
    <p:extLst>
      <p:ext uri="{BB962C8B-B14F-4D97-AF65-F5344CB8AC3E}">
        <p14:creationId xmlns:p14="http://schemas.microsoft.com/office/powerpoint/2010/main" val="354525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85119"/>
            <a:ext cx="2590800" cy="11924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2385119"/>
            <a:ext cx="2590800" cy="11924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385119"/>
            <a:ext cx="2590800" cy="11924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385119"/>
            <a:ext cx="2590800" cy="11924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2651819"/>
            <a:ext cx="2114550" cy="43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sz="3150" b="1" i="0" u="none">
                <a:solidFill>
                  <a:srgbClr val="0F172A"/>
                </a:solidFill>
                <a:latin typeface="Poppins"/>
              </a:rPr>
              <a:t>$2.26M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167955"/>
            <a:ext cx="2114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 dirty="0">
                <a:solidFill>
                  <a:srgbClr val="64748B"/>
                </a:solidFill>
                <a:latin typeface="Lato"/>
              </a:rPr>
              <a:t>TOTAL CUMULATIVE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9025" y="2651819"/>
            <a:ext cx="2114550" cy="43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sz="3150" b="1" i="0" u="none">
                <a:solidFill>
                  <a:srgbClr val="0F172A"/>
                </a:solidFill>
                <a:latin typeface="Poppins"/>
              </a:rPr>
              <a:t>$0.41M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9025" y="3167955"/>
            <a:ext cx="2114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Lato"/>
              </a:rPr>
              <a:t>TOTAL NET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2651819"/>
            <a:ext cx="2114550" cy="43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sz="3150" b="1" i="0" u="none">
                <a:solidFill>
                  <a:srgbClr val="0F172A"/>
                </a:solidFill>
                <a:latin typeface="Poppins"/>
              </a:rPr>
              <a:t>4,922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167955"/>
            <a:ext cx="2114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Lato"/>
              </a:rPr>
              <a:t>TOTAL ORDERS PROCESSED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7825" y="2651819"/>
            <a:ext cx="2114550" cy="43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sz="3150" b="1" i="0" u="none" dirty="0">
                <a:solidFill>
                  <a:srgbClr val="0F172A"/>
                </a:solidFill>
                <a:latin typeface="Poppins"/>
              </a:rPr>
              <a:t>54K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7825" y="3167955"/>
            <a:ext cx="2114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64748B"/>
                </a:solidFill>
                <a:latin typeface="Lato"/>
              </a:rPr>
              <a:t>TOTAL QUANTITY SOLD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58530"/>
            <a:ext cx="1070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Strong Overall Profit Margin: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Superstore achieved an overall profit margin of 18.1% across $2.26M in total sales volume.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7155"/>
            <a:ext cx="1070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High Fulfillment Volume: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54,000 product units were fulfilled across 4,922 distinct customer orders.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15780"/>
            <a:ext cx="107061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Consistent Revenue Engine: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Operational metrics confirm robust baseline demand across primary sales territories.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82342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10967"/>
            <a:ext cx="1905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39592"/>
            <a:ext cx="190500" cy="2000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6725" y="719137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 dirty="0">
                <a:solidFill>
                  <a:srgbClr val="0F172A"/>
                </a:solidFill>
                <a:latin typeface="Poppins SemiBold"/>
              </a:rPr>
              <a:t>Key Performance Indicators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7725" y="5153025"/>
            <a:ext cx="10496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lang="en-US" sz="1275" b="0" i="1" u="none">
                <a:solidFill>
                  <a:srgbClr val="334155"/>
                </a:solidFill>
                <a:latin typeface="Lato"/>
              </a:rPr>
              <a:t>The Consumer segment accounts for over half of total store revenue ($1.15M), while Corporate B2B purchasing represents the second largest share at $0.69M.</a:t>
            </a:r>
            <a:endParaRPr lang="en-US" sz="1275" b="0" i="1" u="none" dirty="0">
              <a:solidFill>
                <a:srgbClr val="334155"/>
              </a:solidFill>
              <a:latin typeface="La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2552" y="789549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550" b="0" i="0" u="none">
                <a:solidFill>
                  <a:srgbClr val="0F172A"/>
                </a:solidFill>
                <a:latin typeface="Poppins SemiBold"/>
              </a:rPr>
              <a:t>Sales by Customer Segment</a:t>
            </a:r>
            <a:endParaRPr lang="en-US" sz="2550" b="0" i="0" u="none" dirty="0">
              <a:solidFill>
                <a:srgbClr val="0F172A"/>
              </a:solidFill>
              <a:latin typeface="Poppins SemiBold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7A1840-3D0D-1329-29B0-8670D2318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149" y="1477907"/>
            <a:ext cx="6189565" cy="34725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7725" y="5530947"/>
            <a:ext cx="10496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1" u="none" dirty="0">
                <a:solidFill>
                  <a:srgbClr val="334155"/>
                </a:solidFill>
                <a:latin typeface="Lato"/>
              </a:rPr>
              <a:t>Technology delivers both the highest revenue volume and profit margin share. Furniture generates substantial gross revenue, but experiences squeezed margins due to shipping and discounting.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688" y="719137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Poppins SemiBold"/>
              </a:rPr>
              <a:t>Category Revenue &amp; Profitability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B1ACD6-527A-B026-CAD7-FA1AFF4F2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205" y="1539109"/>
            <a:ext cx="7048579" cy="36576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7725" y="5387429"/>
            <a:ext cx="10496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1" u="none" dirty="0">
                <a:solidFill>
                  <a:srgbClr val="334155"/>
                </a:solidFill>
                <a:latin typeface="Lato"/>
              </a:rPr>
              <a:t>Following a slight dip in 2016 ($0.46M), sales experienced a major expansion in 2017 (+30.4%) and accelerated to $0.72M in 2018 (+20.0%), representing a 50% revenue gain over 4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2531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 dirty="0">
                <a:solidFill>
                  <a:srgbClr val="0F172A"/>
                </a:solidFill>
                <a:latin typeface="Poppins SemiBold"/>
              </a:rPr>
              <a:t>Annual Sales Growth Trajectory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7CA223-532B-12BF-9BE8-CDCFBB3F4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068" y="1370812"/>
            <a:ext cx="6553864" cy="3772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97627" y="5681224"/>
            <a:ext cx="10496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1" u="none" dirty="0">
                <a:solidFill>
                  <a:srgbClr val="334155"/>
                </a:solidFill>
                <a:latin typeface="Lato"/>
              </a:rPr>
              <a:t>Standard Class is overwhelmingly preferred by customers due to lower cost. Faster options (First Class &amp; Same Day) account for 20% combined, presenting an opportunity for express shipping promotions.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0550" y="691001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 dirty="0">
                <a:solidFill>
                  <a:srgbClr val="0F172A"/>
                </a:solidFill>
                <a:latin typeface="Poppins SemiBold"/>
              </a:rPr>
              <a:t>Shipment Mode Preferences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4A7B5B-0523-7097-8C59-CCC184092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008" y="1437325"/>
            <a:ext cx="7015788" cy="398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59843"/>
            <a:ext cx="3530649" cy="25098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749" y="2559843"/>
            <a:ext cx="3530649" cy="25098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999" y="2559843"/>
            <a:ext cx="3530649" cy="25098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836068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540918"/>
            <a:ext cx="191023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Q1 - Q2 Ramp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950493"/>
            <a:ext cx="29781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Sales start lower in Q1 ($0.35M) during post-holiday lull, then gain momentum in Q2 ($0.44M) with spring replenishment.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6974" y="2836068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540918"/>
            <a:ext cx="154019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Q3 Expansion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950493"/>
            <a:ext cx="29781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Quarter 3 accelerates to $0.60M driven by Back-to-School shopping and corporate Q3 budget allocation.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224" y="2836068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540918"/>
            <a:ext cx="1890236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Q4 Holiday Peak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950493"/>
            <a:ext cx="29781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Quarter 4 dominates overall performance reaching $0.87M, accounting for nearly 38% of total annual sales volume.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2978943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5562" y="2978943"/>
            <a:ext cx="2571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3386" y="2978943"/>
            <a:ext cx="20002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719137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 dirty="0">
                <a:solidFill>
                  <a:srgbClr val="0F172A"/>
                </a:solidFill>
                <a:latin typeface="Poppins SemiBold"/>
              </a:rPr>
              <a:t>Quarterly Sales Dynamics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400" y="2005012"/>
            <a:ext cx="4991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Positive Projected Outlook: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Predictive modeling forecasts continued year-over-year revenue expansion heading into 2019.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0812"/>
            <a:ext cx="49911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 dirty="0">
                <a:solidFill>
                  <a:srgbClr val="334155"/>
                </a:solidFill>
                <a:latin typeface="Lato"/>
              </a:rPr>
              <a:t>Monthly Fluctuation Pattern:</a:t>
            </a:r>
            <a:r>
              <a:rPr sz="1350" b="0" i="0" u="none" dirty="0">
                <a:solidFill>
                  <a:srgbClr val="334155"/>
                </a:solidFill>
                <a:latin typeface="Lato"/>
              </a:rPr>
              <a:t> Historical monthly spikes in September ($0.30M) and November ($0.35M) are predicted to repeat.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33787"/>
            <a:ext cx="4991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Confidence Range: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Forecasted monthly revenue projects between $50K to $110K with steady upper bounds.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19587"/>
            <a:ext cx="49911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Operational Strategy: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Supply chain inventory must ramp up 60 days prior to Q4 demand surges.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28825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14625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65760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343400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0952" y="667687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 dirty="0">
                <a:solidFill>
                  <a:srgbClr val="0F172A"/>
                </a:solidFill>
                <a:latin typeface="Poppins SemiBold"/>
              </a:rPr>
              <a:t>Predictive Sales Forecasting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45BE86-A587-A53F-5EFD-91F37D24F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1599237"/>
            <a:ext cx="6166902" cy="44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9691" y="648617"/>
            <a:ext cx="5700712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 dirty="0">
                <a:solidFill>
                  <a:srgbClr val="0F172A"/>
                </a:solidFill>
                <a:latin typeface="Poppins SemiBold"/>
              </a:rPr>
              <a:t>Sales Overview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" y="1537964"/>
            <a:ext cx="570071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0F172A"/>
                </a:solidFill>
                <a:latin typeface="Poppins SemiBold"/>
              </a:rPr>
              <a:t>Geographic &amp; Product Drilldown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49" y="1947539"/>
            <a:ext cx="7148439" cy="46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The dashboard decomposition analysis reveals key regional performance drivers across top performing states like Pennsylvania ($116K), Florida ($88.4K), and Illinois ($79.2K).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2579481"/>
            <a:ext cx="6670138" cy="46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334155"/>
                </a:solidFill>
                <a:latin typeface="Lato"/>
              </a:rPr>
              <a:t>Key sub-categories such as Phones, Storage, and Tables represent significant revenue anchors in Jacksonville, Miami, and Tallahassee markets.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D67FAB-6BB6-3850-B854-6AE069087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75" y="3179556"/>
            <a:ext cx="8623070" cy="34633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100512"/>
            <a:ext cx="2541240" cy="1624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419" y="1905000"/>
            <a:ext cx="2541240" cy="1624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339" y="4100512"/>
            <a:ext cx="2541240" cy="16240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259" y="1905000"/>
            <a:ext cx="2541240" cy="162401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957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995" y="4300537"/>
            <a:ext cx="2248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2563EB"/>
                </a:solidFill>
                <a:latin typeface="Poppins SemiBold"/>
              </a:rPr>
              <a:t>Phase 1: 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681537"/>
            <a:ext cx="214119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Optimize Inventory &amp; rebalance stock following peak Q4 sales.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5" y="2105025"/>
            <a:ext cx="2248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2563EB"/>
                </a:solidFill>
                <a:latin typeface="Poppins SemiBold"/>
              </a:rPr>
              <a:t>Phase 2: 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486025"/>
            <a:ext cx="214119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Margin adjustments on Furniture &amp; expand Tech promotions.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35" y="4300537"/>
            <a:ext cx="2248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2563EB"/>
                </a:solidFill>
                <a:latin typeface="Poppins SemiBold"/>
              </a:rPr>
              <a:t>Phase 3: 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681537"/>
            <a:ext cx="214119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Pre-load stock for autumn demand &amp; corporate supply drives.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5755" y="2105025"/>
            <a:ext cx="22482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2563EB"/>
                </a:solidFill>
                <a:latin typeface="Poppins SemiBold"/>
              </a:rPr>
              <a:t>Phase 4: 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486025"/>
            <a:ext cx="214119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Lato"/>
              </a:rPr>
              <a:t>Execute peak holiday marketing campaigns &amp; express shipping.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614" y="766763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 dirty="0">
                <a:solidFill>
                  <a:srgbClr val="0F172A"/>
                </a:solidFill>
                <a:latin typeface="Poppins SemiBold"/>
              </a:rPr>
              <a:t>Strategic Action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45" y="37099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3265" y="37099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09184" y="37099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45104" y="37099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5275" y="1744100"/>
            <a:ext cx="11601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0F172A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7725" y="3086100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>
                <a:solidFill>
                  <a:srgbClr val="475569"/>
                </a:solidFill>
                <a:latin typeface="Lato"/>
              </a:rPr>
              <a:t>Thank you for your time. Let's discuss strategic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40</TotalTime>
  <Words>520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Gill Sans MT</vt:lpstr>
      <vt:lpstr>Lato</vt:lpstr>
      <vt:lpstr>Poppins</vt:lpstr>
      <vt:lpstr>Poppins SemiBold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 Mon Kyaw</cp:lastModifiedBy>
  <cp:revision>2</cp:revision>
  <dcterms:created xsi:type="dcterms:W3CDTF">2013-01-27T09:14:16Z</dcterms:created>
  <dcterms:modified xsi:type="dcterms:W3CDTF">2026-09-04T10:25:44Z</dcterms:modified>
  <cp:category/>
</cp:coreProperties>
</file>